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82" r:id="rId6"/>
    <p:sldId id="280" r:id="rId7"/>
    <p:sldId id="262" r:id="rId8"/>
    <p:sldId id="263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Cold open. Multiplayer game; Elixir backend ticks 20x/sec, JS client predicts. Fine on Linux, drifted on Windows. Follow that bug all the way down.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 Hz server, client predicts between ticks. Linux fine. Windows: growing desync. The growing part matters later.</a:t>
            </a:r>
            <a:endParaRPr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e5b8982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g3ee5b89827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ee5b89827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895F465-47C0-62A1-D0BD-1BFE1CFD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e5b89827e_0_22:notes">
            <a:extLst>
              <a:ext uri="{FF2B5EF4-FFF2-40B4-BE49-F238E27FC236}">
                <a16:creationId xmlns:a16="http://schemas.microsoft.com/office/drawing/2014/main" id="{333F9D7F-FB3A-BE42-B545-9BC524953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g3ee5b89827e_0_22:notes">
            <a:extLst>
              <a:ext uri="{FF2B5EF4-FFF2-40B4-BE49-F238E27FC236}">
                <a16:creationId xmlns:a16="http://schemas.microsoft.com/office/drawing/2014/main" id="{1E3C534F-B834-4E16-E839-16527F7C2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ee5b89827e_0_22:notes">
            <a:extLst>
              <a:ext uri="{FF2B5EF4-FFF2-40B4-BE49-F238E27FC236}">
                <a16:creationId xmlns:a16="http://schemas.microsoft.com/office/drawing/2014/main" id="{5598DD74-A0F9-08E6-D6E3-F28C3B94E3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9991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4F88F2F-2D01-0921-185C-CFEEFE5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e5b89827e_0_22:notes">
            <a:extLst>
              <a:ext uri="{FF2B5EF4-FFF2-40B4-BE49-F238E27FC236}">
                <a16:creationId xmlns:a16="http://schemas.microsoft.com/office/drawing/2014/main" id="{F131C0E0-16CC-ADCA-6441-B16F6DFA90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g3ee5b89827e_0_22:notes">
            <a:extLst>
              <a:ext uri="{FF2B5EF4-FFF2-40B4-BE49-F238E27FC236}">
                <a16:creationId xmlns:a16="http://schemas.microsoft.com/office/drawing/2014/main" id="{F6F53E76-1292-3755-CC6B-5E07196BE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ee5b89827e_0_22:notes">
            <a:extLst>
              <a:ext uri="{FF2B5EF4-FFF2-40B4-BE49-F238E27FC236}">
                <a16:creationId xmlns:a16="http://schemas.microsoft.com/office/drawing/2014/main" id="{47CAA20B-1EFD-8162-EF71-E94887C210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1651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fix isn't OS-specific. You fix what you do about being late. Late wake -&gt; shorter next sleep.</a:t>
            </a:r>
            <a:endParaRPr/>
          </a:p>
        </p:txBody>
      </p:sp>
      <p:sp>
        <p:nvSpPr>
          <p:cNvPr id="149" name="Google Shape;14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hardware, two philosophies. The chip was always programmable; ticky vs tickless is a default.</a:t>
            </a:r>
            <a:endParaRPr/>
          </a:p>
        </p:txBody>
      </p:sp>
      <p:sp>
        <p:nvSpPr>
          <p:cNvPr id="239" name="Google Shape;23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1" name="Google Shape;2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Crystal is the metronome. 32,768 = 2^15, divides to exactly 1 Hz. Same crystal as a quartz watch.</a:t>
            </a:r>
            <a:endParaRPr/>
          </a:p>
        </p:txBody>
      </p:sp>
      <p:sp>
        <p:nvSpPr>
          <p:cNvPr id="272" name="Google Shape;27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7" name="Google Shape;28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why: TV crystals were mass-produced and cheap; PC video had to be TV-compatible. 14.31818 = 4x NTSC subcarrier. ACPI timer still spec'd at 3.579545 today.</a:t>
            </a:r>
            <a:endParaRPr/>
          </a:p>
        </p:txBody>
      </p:sp>
      <p:sp>
        <p:nvSpPr>
          <p:cNvPr id="288" name="Google Shape;28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9" name="Google Shape;30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Land the thesis as a definition. Once you can name one, you see them everywhere -&gt; Act 3.</a:t>
            </a:r>
            <a:endParaRPr/>
          </a:p>
        </p:txBody>
      </p:sp>
      <p:sp>
        <p:nvSpPr>
          <p:cNvPr id="310" name="Google Shape;31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2" name="Google Shape;32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2" name="Google Shape;33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Currency -&gt; card -&gt; Fortran -&gt; VT100 -&gt; your editor. Terminal emulators still boot imitating a VT100.</a:t>
            </a:r>
            <a:endParaRPr/>
          </a:p>
        </p:txBody>
      </p:sp>
      <p:sp>
        <p:nvSpPr>
          <p:cNvPr id="333" name="Google Shape;33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8" name="Google Shape;35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Fact -&gt; why -&gt; you-touch-this. The Referer pun: the referer we keep referring to.</a:t>
            </a:r>
            <a:endParaRPr/>
          </a:p>
        </p:txBody>
      </p:sp>
      <p:sp>
        <p:nvSpPr>
          <p:cNvPr id="359" name="Google Shape;35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9" name="Google Shape;37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 version: standard gauge descends from horse-drawn mine wagons via Stephenson; Roman chariots and the Shuttle punchline are embellishment (Snopes: false, partly true for trivial reasons).</a:t>
            </a:r>
            <a:endParaRPr/>
          </a:p>
        </p:txBody>
      </p:sp>
      <p:sp>
        <p:nvSpPr>
          <p:cNvPr id="380" name="Google Shape;38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Google Shape;40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Two-week rage project, named as a self-deprecating joke. Man page: the stupid content tracker.</a:t>
            </a:r>
            <a:endParaRPr/>
          </a:p>
        </p:txBody>
      </p:sp>
      <p:sp>
        <p:nvSpPr>
          <p:cNvPr id="405" name="Google Shape;40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8" name="Google Shape;41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as a myth. The anti-jam claim fails the er-adjacency test. It survived through training and lock-in.</a:t>
            </a:r>
            <a:endParaRPr/>
          </a:p>
        </p:txBody>
      </p:sp>
      <p:sp>
        <p:nvSpPr>
          <p:cNvPr id="419" name="Google Shape;41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4" name="Google Shape;43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2038 is on the calendar; we're minting the fossil now. Floats for money, monotonic assumptions.</a:t>
            </a:r>
            <a:endParaRPr/>
          </a:p>
        </p:txBody>
      </p:sp>
      <p:sp>
        <p:nvSpPr>
          <p:cNvPr id="435" name="Google Shape;43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7" name="Google Shape;44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lesson, then the crystal callback.</a:t>
            </a:r>
            <a:endParaRPr/>
          </a:p>
        </p:txBody>
      </p:sp>
      <p:sp>
        <p:nvSpPr>
          <p:cNvPr id="448" name="Google Shape;44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" name="Google Shape;46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the floor and crowd-source a frozen-accident hall of fame.</a:t>
            </a:r>
            <a:endParaRPr/>
          </a:p>
        </p:txBody>
      </p:sp>
      <p:sp>
        <p:nvSpPr>
          <p:cNvPr id="461" name="Google Shape;46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WiraiuHOCr9Ad8iRMsOwBAA5u_kNjqvP/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852160"/>
            <a:ext cx="146304" cy="27432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41248" y="5577840"/>
            <a:ext cx="146304" cy="54864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33856" y="5715000"/>
            <a:ext cx="146304" cy="41148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426464" y="5303520"/>
            <a:ext cx="146304" cy="82296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719072" y="5029200"/>
            <a:ext cx="146304" cy="109728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011680" y="5486400"/>
            <a:ext cx="146304" cy="64008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304288" y="4754880"/>
            <a:ext cx="146304" cy="137160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596896" y="5212080"/>
            <a:ext cx="146304" cy="91440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889504" y="5623560"/>
            <a:ext cx="146304" cy="50292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182112" y="4937760"/>
            <a:ext cx="146304" cy="118872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474720" y="5394960"/>
            <a:ext cx="146304" cy="73152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767328" y="4297680"/>
            <a:ext cx="146304" cy="182880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059936" y="5120640"/>
            <a:ext cx="146304" cy="100584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352544" y="5577840"/>
            <a:ext cx="146304" cy="54864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645152" y="4846320"/>
            <a:ext cx="146304" cy="128016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937760" y="5303520"/>
            <a:ext cx="146304" cy="82296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230368" y="5760720"/>
            <a:ext cx="146304" cy="36576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522976" y="4663440"/>
            <a:ext cx="146304" cy="146304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815584" y="5440680"/>
            <a:ext cx="146304" cy="68580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108192" y="5074920"/>
            <a:ext cx="146304" cy="105156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400800" y="5669280"/>
            <a:ext cx="146304" cy="45720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693408" y="5257800"/>
            <a:ext cx="146304" cy="868680"/>
          </a:xfrm>
          <a:prstGeom prst="rect">
            <a:avLst/>
          </a:prstGeom>
          <a:solidFill>
            <a:srgbClr val="34E5A1">
              <a:alpha val="27843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400"/>
              <a:buFont typeface="Courier New"/>
              <a:buNone/>
            </a:pPr>
            <a:r>
              <a:rPr lang="en-US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Stuart Page - Engineering Meeting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48640" y="182880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5600"/>
              <a:buFont typeface="Courier New"/>
              <a:buNone/>
            </a:pPr>
            <a:r>
              <a:rPr lang="en-US" sz="56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FROZEN ACCIDENTS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315468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2300"/>
              <a:buFont typeface="Calibri"/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2475" y="1371594"/>
            <a:ext cx="3016289" cy="37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365760" y="118872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93B"/>
              </a:buClr>
              <a:buSzPts val="30000"/>
              <a:buFont typeface="Courier New"/>
              <a:buNone/>
            </a:pPr>
            <a:r>
              <a:rPr lang="en-US" sz="30000" b="1" i="0" u="none" strike="noStrike" cap="none">
                <a:solidFill>
                  <a:srgbClr val="29393B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30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60720" y="2468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ACT 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760720" y="2926080"/>
            <a:ext cx="5852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3400"/>
              <a:buFont typeface="Courier New"/>
              <a:buNone/>
            </a:pPr>
            <a:r>
              <a:rPr lang="en-US" sz="34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n-US" sz="3400" b="1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bug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840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01 · THE BUG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641908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5952" y="6419088"/>
            <a:ext cx="594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50165" y="731508"/>
            <a:ext cx="11091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What I was working 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390350" y="4335050"/>
            <a:ext cx="4185900" cy="14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But I had a bug: when I was running locally, my character seems to sometimes ‘backslide’ for no reason.</a:t>
            </a:r>
            <a:endParaRPr sz="1700">
              <a:solidFill>
                <a:srgbClr val="E8EEE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This seems to get worse the further you run.</a:t>
            </a:r>
            <a:endParaRPr sz="1700">
              <a:solidFill>
                <a:srgbClr val="E8EE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150" y="731508"/>
            <a:ext cx="4572050" cy="318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850" y="2665973"/>
            <a:ext cx="6387549" cy="31273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757850" y="1444825"/>
            <a:ext cx="67665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I’ve been vibe-slopping a</a:t>
            </a: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 small multiplayer game called </a:t>
            </a:r>
            <a:r>
              <a:rPr lang="en-US" sz="1700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‘Dead Giveaway’</a:t>
            </a: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. There</a:t>
            </a:r>
            <a:r>
              <a:rPr lang="en-US" sz="1700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’s an Elixir backend, that </a:t>
            </a: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ticks 20 times a second</a:t>
            </a:r>
            <a:r>
              <a:rPr lang="en-US" sz="1700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. T</a:t>
            </a: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he JavaScript client fills in the motion between ticks so it looks smooth.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548640" y="641908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6" title="backslid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4151" y="658248"/>
            <a:ext cx="8286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6;p5">
            <a:extLst>
              <a:ext uri="{FF2B5EF4-FFF2-40B4-BE49-F238E27FC236}">
                <a16:creationId xmlns:a16="http://schemas.microsoft.com/office/drawing/2014/main" id="{57D283AF-2ECC-45EB-E119-66CA9285D921}"/>
              </a:ext>
            </a:extLst>
          </p:cNvPr>
          <p:cNvSpPr/>
          <p:nvPr/>
        </p:nvSpPr>
        <p:spPr>
          <a:xfrm>
            <a:off x="548640" y="3840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01 · THE BUG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8E4F6-B4D5-8C7D-B813-0F4783503632}"/>
              </a:ext>
            </a:extLst>
          </p:cNvPr>
          <p:cNvSpPr txBox="1"/>
          <p:nvPr/>
        </p:nvSpPr>
        <p:spPr>
          <a:xfrm>
            <a:off x="2039815" y="5627077"/>
            <a:ext cx="76106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</a:rPr>
              <a:t>Important note: this only happened really, really badly while I was developing locally (on my Windows machine). The deployed game (on Fly) still slid around sometimes, but it wasn’t nearly as bad. THIS WILL BE EXTREMELY RELEVANT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1FFE7951-7143-7ECD-C7AF-281AE656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>
            <a:extLst>
              <a:ext uri="{FF2B5EF4-FFF2-40B4-BE49-F238E27FC236}">
                <a16:creationId xmlns:a16="http://schemas.microsoft.com/office/drawing/2014/main" id="{CA95E3D9-6112-C519-7270-80E6A0BF83FC}"/>
              </a:ext>
            </a:extLst>
          </p:cNvPr>
          <p:cNvSpPr/>
          <p:nvPr/>
        </p:nvSpPr>
        <p:spPr>
          <a:xfrm>
            <a:off x="548640" y="641908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6;p5">
            <a:extLst>
              <a:ext uri="{FF2B5EF4-FFF2-40B4-BE49-F238E27FC236}">
                <a16:creationId xmlns:a16="http://schemas.microsoft.com/office/drawing/2014/main" id="{A5E372BE-7ED2-2E79-8605-BC77CC37343E}"/>
              </a:ext>
            </a:extLst>
          </p:cNvPr>
          <p:cNvSpPr/>
          <p:nvPr/>
        </p:nvSpPr>
        <p:spPr>
          <a:xfrm>
            <a:off x="548640" y="3840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01 · THE BUG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04B32-4BB3-9164-5CE9-1710C9135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98179"/>
            <a:ext cx="6945720" cy="2374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C3B90C-8380-4F59-24AE-9102EFA9261C}"/>
              </a:ext>
            </a:extLst>
          </p:cNvPr>
          <p:cNvSpPr txBox="1"/>
          <p:nvPr/>
        </p:nvSpPr>
        <p:spPr>
          <a:xfrm>
            <a:off x="548640" y="3590402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957620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6BA39BC5-0330-B64D-86FE-0F0CC79D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>
            <a:extLst>
              <a:ext uri="{FF2B5EF4-FFF2-40B4-BE49-F238E27FC236}">
                <a16:creationId xmlns:a16="http://schemas.microsoft.com/office/drawing/2014/main" id="{6A9ACFFA-807F-E9EB-6502-9022B6BF8D99}"/>
              </a:ext>
            </a:extLst>
          </p:cNvPr>
          <p:cNvSpPr/>
          <p:nvPr/>
        </p:nvSpPr>
        <p:spPr>
          <a:xfrm>
            <a:off x="548640" y="641908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55696B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9;p5">
            <a:extLst>
              <a:ext uri="{FF2B5EF4-FFF2-40B4-BE49-F238E27FC236}">
                <a16:creationId xmlns:a16="http://schemas.microsoft.com/office/drawing/2014/main" id="{C24636CC-7CE1-1106-C28A-0D5E61345AF3}"/>
              </a:ext>
            </a:extLst>
          </p:cNvPr>
          <p:cNvSpPr/>
          <p:nvPr/>
        </p:nvSpPr>
        <p:spPr>
          <a:xfrm>
            <a:off x="550165" y="731508"/>
            <a:ext cx="11091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Let’s look at some code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6;p5">
            <a:extLst>
              <a:ext uri="{FF2B5EF4-FFF2-40B4-BE49-F238E27FC236}">
                <a16:creationId xmlns:a16="http://schemas.microsoft.com/office/drawing/2014/main" id="{983EEDA6-FACB-ACD6-1C4D-A0ED0ED4D0EA}"/>
              </a:ext>
            </a:extLst>
          </p:cNvPr>
          <p:cNvSpPr/>
          <p:nvPr/>
        </p:nvSpPr>
        <p:spPr>
          <a:xfrm>
            <a:off x="548640" y="3840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01 · THE BUG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5325F-D77E-08CA-6426-623D2281B906}"/>
              </a:ext>
            </a:extLst>
          </p:cNvPr>
          <p:cNvSpPr txBox="1"/>
          <p:nvPr/>
        </p:nvSpPr>
        <p:spPr>
          <a:xfrm>
            <a:off x="548640" y="1444968"/>
            <a:ext cx="554583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7B72"/>
                </a:solidFill>
                <a:latin typeface="ui-monospace"/>
              </a:rPr>
              <a:t>defp</a:t>
            </a:r>
            <a:r>
              <a:rPr lang="en-US">
                <a:solidFill>
                  <a:srgbClr val="F0F6FC"/>
                </a:solidFill>
                <a:latin typeface="ui-monospace"/>
              </a:rPr>
              <a:t> </a:t>
            </a:r>
            <a:r>
              <a:rPr lang="en-US">
                <a:solidFill>
                  <a:srgbClr val="D2A8FF"/>
                </a:solidFill>
                <a:latin typeface="ui-monospace"/>
              </a:rPr>
              <a:t>handle_info(</a:t>
            </a:r>
            <a:r>
              <a:rPr lang="en-US">
                <a:solidFill>
                  <a:srgbClr val="F0F6FC"/>
                </a:solidFill>
                <a:latin typeface="ui-monospace"/>
              </a:rPr>
              <a:t>:tick</a:t>
            </a:r>
            <a:r>
              <a:rPr lang="en-US">
                <a:solidFill>
                  <a:srgbClr val="D2A8FF"/>
                </a:solidFill>
                <a:latin typeface="ui-monospace"/>
              </a:rPr>
              <a:t>, </a:t>
            </a:r>
            <a:r>
              <a:rPr lang="en-US">
                <a:solidFill>
                  <a:srgbClr val="F0F6FC"/>
                </a:solidFill>
                <a:latin typeface="ui-monospace"/>
              </a:rPr>
              <a:t>state</a:t>
            </a:r>
            <a:r>
              <a:rPr lang="en-US">
                <a:solidFill>
                  <a:srgbClr val="D2A8FF"/>
                </a:solidFill>
                <a:latin typeface="ui-monospace"/>
              </a:rPr>
              <a:t>) </a:t>
            </a:r>
            <a:r>
              <a:rPr lang="en-US">
                <a:solidFill>
                  <a:srgbClr val="A5D6FF"/>
                </a:solidFill>
                <a:latin typeface="ui-monospace"/>
              </a:rPr>
              <a:t>do: </a:t>
            </a:r>
          </a:p>
          <a:p>
            <a:r>
              <a:rPr lang="en-US">
                <a:solidFill>
                  <a:srgbClr val="A5D6FF"/>
                </a:solidFill>
                <a:latin typeface="ui-monospace"/>
              </a:rPr>
              <a:t>      </a:t>
            </a:r>
            <a:r>
              <a:rPr lang="en-US" b="0" i="0">
                <a:solidFill>
                  <a:schemeClr val="tx2">
                    <a:lumMod val="75000"/>
                  </a:schemeClr>
                </a:solidFill>
                <a:effectLst/>
                <a:latin typeface="ui-monospace"/>
              </a:rPr>
              <a:t># adjust game state stuff</a:t>
            </a:r>
          </a:p>
          <a:p>
            <a:r>
              <a:rPr lang="en-US">
                <a:solidFill>
                  <a:srgbClr val="A5D6FF"/>
                </a:solidFill>
                <a:latin typeface="ui-monospace"/>
              </a:rPr>
              <a:t>      </a:t>
            </a:r>
            <a:r>
              <a:rPr lang="en-US">
                <a:solidFill>
                  <a:srgbClr val="D2A8FF"/>
                </a:solidFill>
                <a:latin typeface="ui-monospace"/>
              </a:rPr>
              <a:t>schedule_tick</a:t>
            </a:r>
            <a:r>
              <a:rPr lang="en-US">
                <a:solidFill>
                  <a:srgbClr val="F0F6FC"/>
                </a:solidFill>
                <a:latin typeface="ui-monospace"/>
              </a:rPr>
              <a:t>(state</a:t>
            </a:r>
            <a:r>
              <a:rPr lang="en-US">
                <a:solidFill>
                  <a:srgbClr val="D2A8FF"/>
                </a:solidFill>
                <a:latin typeface="ui-monospace"/>
              </a:rPr>
              <a:t>.</a:t>
            </a:r>
            <a:r>
              <a:rPr lang="en-US">
                <a:solidFill>
                  <a:srgbClr val="F0F6FC"/>
                </a:solidFill>
                <a:latin typeface="ui-monospace"/>
              </a:rPr>
              <a:t>tick_ms)</a:t>
            </a:r>
          </a:p>
          <a:p>
            <a:r>
              <a:rPr lang="en-US">
                <a:solidFill>
                  <a:srgbClr val="A5D6FF"/>
                </a:solidFill>
                <a:latin typeface="ui-monospace"/>
              </a:rPr>
              <a:t>     {</a:t>
            </a:r>
            <a:r>
              <a:rPr lang="en-US">
                <a:solidFill>
                  <a:srgbClr val="F0F6FC"/>
                </a:solidFill>
                <a:latin typeface="ui-monospace"/>
              </a:rPr>
              <a:t>:noreply</a:t>
            </a:r>
            <a:r>
              <a:rPr lang="en-US">
                <a:solidFill>
                  <a:srgbClr val="A5D6FF"/>
                </a:solidFill>
                <a:latin typeface="ui-monospace"/>
              </a:rPr>
              <a:t>, </a:t>
            </a:r>
            <a:r>
              <a:rPr lang="en-US">
                <a:solidFill>
                  <a:srgbClr val="F0F6FC"/>
                </a:solidFill>
                <a:latin typeface="ui-monospace"/>
              </a:rPr>
              <a:t>state</a:t>
            </a:r>
            <a:r>
              <a:rPr lang="en-US">
                <a:solidFill>
                  <a:srgbClr val="A5D6FF"/>
                </a:solidFill>
                <a:latin typeface="ui-monospace"/>
              </a:rPr>
              <a:t>}</a:t>
            </a:r>
            <a:endParaRPr lang="en-US" b="0" i="0">
              <a:solidFill>
                <a:srgbClr val="A5D6FF"/>
              </a:solidFill>
              <a:effectLst/>
              <a:latin typeface="ui-monospace"/>
            </a:endParaRPr>
          </a:p>
          <a:p>
            <a:r>
              <a:rPr lang="en-US">
                <a:solidFill>
                  <a:srgbClr val="A5D6FF"/>
                </a:solidFill>
                <a:latin typeface="ui-monospace"/>
              </a:rPr>
              <a:t>end</a:t>
            </a:r>
            <a:endParaRPr lang="en-US">
              <a:solidFill>
                <a:srgbClr val="D2A8FF"/>
              </a:solidFill>
              <a:latin typeface="ui-monospace"/>
            </a:endParaRPr>
          </a:p>
          <a:p>
            <a:endParaRPr lang="en-US" b="0" i="0">
              <a:solidFill>
                <a:srgbClr val="FF7B72"/>
              </a:solidFill>
              <a:effectLst/>
              <a:latin typeface="ui-monospace"/>
            </a:endParaRPr>
          </a:p>
          <a:p>
            <a:r>
              <a:rPr lang="en-US" b="0" i="0">
                <a:solidFill>
                  <a:srgbClr val="FF7B72"/>
                </a:solidFill>
                <a:effectLst/>
                <a:latin typeface="ui-monospace"/>
              </a:rPr>
              <a:t>defp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D2A8FF"/>
                </a:solidFill>
                <a:effectLst/>
                <a:latin typeface="ui-monospace"/>
              </a:rPr>
              <a:t>schedule_tick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(tick_ms), </a:t>
            </a:r>
            <a:r>
              <a:rPr lang="en-US" b="0" i="0">
                <a:solidFill>
                  <a:srgbClr val="A5D6FF"/>
                </a:solidFill>
                <a:effectLst/>
                <a:latin typeface="ui-monospace"/>
              </a:rPr>
              <a:t>do: </a:t>
            </a:r>
            <a:r>
              <a:rPr lang="en-US" b="0" i="0">
                <a:solidFill>
                  <a:srgbClr val="FFA657"/>
                </a:solidFill>
                <a:effectLst/>
                <a:latin typeface="ui-monospace"/>
              </a:rPr>
              <a:t>Process</a:t>
            </a:r>
            <a:r>
              <a:rPr lang="en-US" b="0" i="0">
                <a:solidFill>
                  <a:srgbClr val="79C0FF"/>
                </a:solidFill>
                <a:effectLst/>
                <a:latin typeface="ui-monospace"/>
              </a:rPr>
              <a:t>.</a:t>
            </a:r>
            <a:r>
              <a:rPr lang="en-US" b="0" i="0">
                <a:solidFill>
                  <a:srgbClr val="D2A8FF"/>
                </a:solidFill>
                <a:effectLst/>
                <a:latin typeface="ui-monospace"/>
              </a:rPr>
              <a:t>send_after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(</a:t>
            </a:r>
            <a:r>
              <a:rPr lang="en-US" b="0" i="0">
                <a:solidFill>
                  <a:srgbClr val="D2A8FF"/>
                </a:solidFill>
                <a:effectLst/>
                <a:latin typeface="ui-monospace"/>
              </a:rPr>
              <a:t>self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(), </a:t>
            </a:r>
            <a:r>
              <a:rPr lang="en-US" b="0" i="0">
                <a:solidFill>
                  <a:srgbClr val="A5D6FF"/>
                </a:solidFill>
                <a:effectLst/>
                <a:latin typeface="ui-monospace"/>
              </a:rPr>
              <a:t>:tick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, tick_ms)</a:t>
            </a:r>
          </a:p>
          <a:p>
            <a:endParaRPr lang="en-US">
              <a:solidFill>
                <a:srgbClr val="F0F6FC"/>
              </a:solidFill>
              <a:latin typeface="ui-monospace"/>
            </a:endParaRPr>
          </a:p>
          <a:p>
            <a:endParaRPr lang="en-US" b="0" i="0">
              <a:solidFill>
                <a:srgbClr val="F0F6FC"/>
              </a:solidFill>
              <a:effectLst/>
              <a:latin typeface="ui-monospace"/>
            </a:endParaRPr>
          </a:p>
          <a:p>
            <a:endParaRPr lang="en-US">
              <a:solidFill>
                <a:srgbClr val="F0F6FC"/>
              </a:solidFill>
              <a:latin typeface="ui-monospace"/>
            </a:endParaRPr>
          </a:p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C95163-0630-AE9F-CD11-D98D9F4C3323}"/>
              </a:ext>
            </a:extLst>
          </p:cNvPr>
          <p:cNvSpPr txBox="1"/>
          <p:nvPr/>
        </p:nvSpPr>
        <p:spPr>
          <a:xfrm>
            <a:off x="655272" y="3103126"/>
            <a:ext cx="543920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</a:rPr>
              <a:t>So what’s the issue with this? Let’s say the tick is 50ms</a:t>
            </a:r>
            <a:br>
              <a:rPr lang="en-US">
                <a:solidFill>
                  <a:schemeClr val="bg1">
                    <a:lumMod val="95000"/>
                  </a:schemeClr>
                </a:solidFill>
              </a:rPr>
            </a:b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`Process.send_after/3` calls `:</a:t>
            </a:r>
            <a:r>
              <a:rPr lang="en-US" err="1">
                <a:solidFill>
                  <a:schemeClr val="bg1">
                    <a:lumMod val="95000"/>
                  </a:schemeClr>
                </a:solidFill>
              </a:rPr>
              <a:t>erlang.send_after</a:t>
            </a:r>
            <a:r>
              <a:rPr lang="en-US">
                <a:solidFill>
                  <a:schemeClr val="bg1">
                    <a:lumMod val="95000"/>
                  </a:schemeClr>
                </a:solidFill>
              </a:rPr>
              <a:t>`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BEAM stuff: adds one entry to a BEAM scheduler</a:t>
            </a:r>
            <a:br>
              <a:rPr lang="en-US">
                <a:solidFill>
                  <a:schemeClr val="bg1">
                    <a:lumMod val="95000"/>
                  </a:schemeClr>
                </a:solidFill>
              </a:rPr>
            </a:br>
            <a:r>
              <a:rPr lang="en-US">
                <a:solidFill>
                  <a:schemeClr val="bg1">
                    <a:lumMod val="95000"/>
                  </a:schemeClr>
                </a:solidFill>
              </a:rPr>
              <a:t>"at time T, send :tick to this </a:t>
            </a:r>
            <a:r>
              <a:rPr lang="en-US" err="1">
                <a:solidFill>
                  <a:schemeClr val="bg1">
                    <a:lumMod val="95000"/>
                  </a:schemeClr>
                </a:solidFill>
              </a:rPr>
              <a:t>pid</a:t>
            </a:r>
            <a:r>
              <a:rPr lang="en-US">
                <a:solidFill>
                  <a:schemeClr val="bg1">
                    <a:lumMod val="95000"/>
                  </a:schemeClr>
                </a:solidFill>
              </a:rPr>
              <a:t>.“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These are OS threads, and if they run out of stuff to do they go sleep, and ask to be woken up in 50ms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This is where the OS matters: on Windows, FOR SOME GODFORSAKEN REASON, the wake-ups are only processed on a beat of 15.625ms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This means a timed wait can only come due on a check: so it rounds up to the next one.</a:t>
            </a:r>
          </a:p>
          <a:p>
            <a:pPr>
              <a:buClr>
                <a:schemeClr val="bg1"/>
              </a:buClr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9" name="Google Shape;81;p7">
            <a:extLst>
              <a:ext uri="{FF2B5EF4-FFF2-40B4-BE49-F238E27FC236}">
                <a16:creationId xmlns:a16="http://schemas.microsoft.com/office/drawing/2014/main" id="{885C4EA1-4B00-2802-A8B9-E2F58A03C732}"/>
              </a:ext>
            </a:extLst>
          </p:cNvPr>
          <p:cNvCxnSpPr/>
          <p:nvPr/>
        </p:nvCxnSpPr>
        <p:spPr>
          <a:xfrm>
            <a:off x="1353312" y="6126480"/>
            <a:ext cx="9875520" cy="0"/>
          </a:xfrm>
          <a:prstGeom prst="straightConnector1">
            <a:avLst/>
          </a:prstGeom>
          <a:noFill/>
          <a:ln w="254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82;p7">
            <a:extLst>
              <a:ext uri="{FF2B5EF4-FFF2-40B4-BE49-F238E27FC236}">
                <a16:creationId xmlns:a16="http://schemas.microsoft.com/office/drawing/2014/main" id="{6A5CD391-D27C-CA3B-993F-63CCC14A56B7}"/>
              </a:ext>
            </a:extLst>
          </p:cNvPr>
          <p:cNvCxnSpPr/>
          <p:nvPr/>
        </p:nvCxnSpPr>
        <p:spPr>
          <a:xfrm>
            <a:off x="3822192" y="6016752"/>
            <a:ext cx="0" cy="219456"/>
          </a:xfrm>
          <a:prstGeom prst="straightConnector1">
            <a:avLst/>
          </a:prstGeom>
          <a:noFill/>
          <a:ln w="25400" cap="flat" cmpd="sng">
            <a:solidFill>
              <a:srgbClr val="5569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83;p7">
            <a:extLst>
              <a:ext uri="{FF2B5EF4-FFF2-40B4-BE49-F238E27FC236}">
                <a16:creationId xmlns:a16="http://schemas.microsoft.com/office/drawing/2014/main" id="{78C1E7E5-A335-C1B8-7DDA-C4C656B5210B}"/>
              </a:ext>
            </a:extLst>
          </p:cNvPr>
          <p:cNvSpPr/>
          <p:nvPr/>
        </p:nvSpPr>
        <p:spPr>
          <a:xfrm>
            <a:off x="3182112" y="62910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15.625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4;p7">
            <a:extLst>
              <a:ext uri="{FF2B5EF4-FFF2-40B4-BE49-F238E27FC236}">
                <a16:creationId xmlns:a16="http://schemas.microsoft.com/office/drawing/2014/main" id="{20D780A8-C0A6-7B71-4C19-78936B5B4868}"/>
              </a:ext>
            </a:extLst>
          </p:cNvPr>
          <p:cNvSpPr/>
          <p:nvPr/>
        </p:nvSpPr>
        <p:spPr>
          <a:xfrm>
            <a:off x="3182112" y="6583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#1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85;p7">
            <a:extLst>
              <a:ext uri="{FF2B5EF4-FFF2-40B4-BE49-F238E27FC236}">
                <a16:creationId xmlns:a16="http://schemas.microsoft.com/office/drawing/2014/main" id="{5EA6C264-0F56-8EBF-CC97-96FC1AF1C944}"/>
              </a:ext>
            </a:extLst>
          </p:cNvPr>
          <p:cNvCxnSpPr/>
          <p:nvPr/>
        </p:nvCxnSpPr>
        <p:spPr>
          <a:xfrm>
            <a:off x="6291072" y="6016752"/>
            <a:ext cx="0" cy="219456"/>
          </a:xfrm>
          <a:prstGeom prst="straightConnector1">
            <a:avLst/>
          </a:prstGeom>
          <a:noFill/>
          <a:ln w="25400" cap="flat" cmpd="sng">
            <a:solidFill>
              <a:srgbClr val="5569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86;p7">
            <a:extLst>
              <a:ext uri="{FF2B5EF4-FFF2-40B4-BE49-F238E27FC236}">
                <a16:creationId xmlns:a16="http://schemas.microsoft.com/office/drawing/2014/main" id="{4D98F075-F0C9-CF68-6F81-E4BDE33CE275}"/>
              </a:ext>
            </a:extLst>
          </p:cNvPr>
          <p:cNvSpPr/>
          <p:nvPr/>
        </p:nvSpPr>
        <p:spPr>
          <a:xfrm>
            <a:off x="5650992" y="62910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31.25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7;p7">
            <a:extLst>
              <a:ext uri="{FF2B5EF4-FFF2-40B4-BE49-F238E27FC236}">
                <a16:creationId xmlns:a16="http://schemas.microsoft.com/office/drawing/2014/main" id="{13EE610D-290B-7AC1-2739-FBA7CBA1C423}"/>
              </a:ext>
            </a:extLst>
          </p:cNvPr>
          <p:cNvSpPr/>
          <p:nvPr/>
        </p:nvSpPr>
        <p:spPr>
          <a:xfrm>
            <a:off x="5650992" y="6583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#2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88;p7">
            <a:extLst>
              <a:ext uri="{FF2B5EF4-FFF2-40B4-BE49-F238E27FC236}">
                <a16:creationId xmlns:a16="http://schemas.microsoft.com/office/drawing/2014/main" id="{62C13552-FBDD-D4B9-77B2-D6F64715F1DF}"/>
              </a:ext>
            </a:extLst>
          </p:cNvPr>
          <p:cNvCxnSpPr/>
          <p:nvPr/>
        </p:nvCxnSpPr>
        <p:spPr>
          <a:xfrm>
            <a:off x="8759952" y="6016752"/>
            <a:ext cx="0" cy="219456"/>
          </a:xfrm>
          <a:prstGeom prst="straightConnector1">
            <a:avLst/>
          </a:prstGeom>
          <a:noFill/>
          <a:ln w="25400" cap="flat" cmpd="sng">
            <a:solidFill>
              <a:srgbClr val="5569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89;p7">
            <a:extLst>
              <a:ext uri="{FF2B5EF4-FFF2-40B4-BE49-F238E27FC236}">
                <a16:creationId xmlns:a16="http://schemas.microsoft.com/office/drawing/2014/main" id="{80F8874F-5A32-ED44-C78A-DCC2D70C8EFE}"/>
              </a:ext>
            </a:extLst>
          </p:cNvPr>
          <p:cNvSpPr/>
          <p:nvPr/>
        </p:nvSpPr>
        <p:spPr>
          <a:xfrm>
            <a:off x="8119872" y="62910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46.875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90;p7">
            <a:extLst>
              <a:ext uri="{FF2B5EF4-FFF2-40B4-BE49-F238E27FC236}">
                <a16:creationId xmlns:a16="http://schemas.microsoft.com/office/drawing/2014/main" id="{2D57F36F-32A2-3F70-C2DC-1651A0A2823B}"/>
              </a:ext>
            </a:extLst>
          </p:cNvPr>
          <p:cNvSpPr/>
          <p:nvPr/>
        </p:nvSpPr>
        <p:spPr>
          <a:xfrm>
            <a:off x="8119872" y="6583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#3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91;p7">
            <a:extLst>
              <a:ext uri="{FF2B5EF4-FFF2-40B4-BE49-F238E27FC236}">
                <a16:creationId xmlns:a16="http://schemas.microsoft.com/office/drawing/2014/main" id="{2483007C-FB54-1A6B-9DBA-94EEAF8AEC76}"/>
              </a:ext>
            </a:extLst>
          </p:cNvPr>
          <p:cNvCxnSpPr/>
          <p:nvPr/>
        </p:nvCxnSpPr>
        <p:spPr>
          <a:xfrm>
            <a:off x="11228832" y="6016752"/>
            <a:ext cx="0" cy="219456"/>
          </a:xfrm>
          <a:prstGeom prst="straightConnector1">
            <a:avLst/>
          </a:prstGeom>
          <a:noFill/>
          <a:ln w="25400" cap="flat" cmpd="sng">
            <a:solidFill>
              <a:srgbClr val="55696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92;p7">
            <a:extLst>
              <a:ext uri="{FF2B5EF4-FFF2-40B4-BE49-F238E27FC236}">
                <a16:creationId xmlns:a16="http://schemas.microsoft.com/office/drawing/2014/main" id="{D8B455B0-0FA9-5795-56CE-495E8CE071BB}"/>
              </a:ext>
            </a:extLst>
          </p:cNvPr>
          <p:cNvSpPr/>
          <p:nvPr/>
        </p:nvSpPr>
        <p:spPr>
          <a:xfrm>
            <a:off x="10588752" y="62910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62.5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93;p7">
            <a:extLst>
              <a:ext uri="{FF2B5EF4-FFF2-40B4-BE49-F238E27FC236}">
                <a16:creationId xmlns:a16="http://schemas.microsoft.com/office/drawing/2014/main" id="{2DE97578-42DB-6674-26CE-7EF57D0FA991}"/>
              </a:ext>
            </a:extLst>
          </p:cNvPr>
          <p:cNvSpPr/>
          <p:nvPr/>
        </p:nvSpPr>
        <p:spPr>
          <a:xfrm>
            <a:off x="10588752" y="65836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#4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94;p7">
            <a:extLst>
              <a:ext uri="{FF2B5EF4-FFF2-40B4-BE49-F238E27FC236}">
                <a16:creationId xmlns:a16="http://schemas.microsoft.com/office/drawing/2014/main" id="{F4A01F88-B57A-84D0-4F2F-E1BA89575335}"/>
              </a:ext>
            </a:extLst>
          </p:cNvPr>
          <p:cNvCxnSpPr/>
          <p:nvPr/>
        </p:nvCxnSpPr>
        <p:spPr>
          <a:xfrm>
            <a:off x="9253728" y="5577840"/>
            <a:ext cx="0" cy="548640"/>
          </a:xfrm>
          <a:prstGeom prst="straightConnector1">
            <a:avLst/>
          </a:prstGeom>
          <a:noFill/>
          <a:ln w="25400" cap="flat" cmpd="sng">
            <a:solidFill>
              <a:srgbClr val="34E5A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3" name="Google Shape;95;p7">
            <a:extLst>
              <a:ext uri="{FF2B5EF4-FFF2-40B4-BE49-F238E27FC236}">
                <a16:creationId xmlns:a16="http://schemas.microsoft.com/office/drawing/2014/main" id="{B8CB8F2E-EED4-A444-3C7E-384BC137F6CF}"/>
              </a:ext>
            </a:extLst>
          </p:cNvPr>
          <p:cNvSpPr/>
          <p:nvPr/>
        </p:nvSpPr>
        <p:spPr>
          <a:xfrm>
            <a:off x="7882128" y="5257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asked: 50 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96;p7">
            <a:extLst>
              <a:ext uri="{FF2B5EF4-FFF2-40B4-BE49-F238E27FC236}">
                <a16:creationId xmlns:a16="http://schemas.microsoft.com/office/drawing/2014/main" id="{5EB1949E-D2BD-594E-02EE-F6EE8F4E2E10}"/>
              </a:ext>
            </a:extLst>
          </p:cNvPr>
          <p:cNvCxnSpPr/>
          <p:nvPr/>
        </p:nvCxnSpPr>
        <p:spPr>
          <a:xfrm>
            <a:off x="9253728" y="5870448"/>
            <a:ext cx="1975104" cy="0"/>
          </a:xfrm>
          <a:prstGeom prst="straightConnector1">
            <a:avLst/>
          </a:prstGeom>
          <a:noFill/>
          <a:ln w="31750" cap="flat" cmpd="sng">
            <a:solidFill>
              <a:srgbClr val="FFC24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" name="Google Shape;97;p7">
            <a:extLst>
              <a:ext uri="{FF2B5EF4-FFF2-40B4-BE49-F238E27FC236}">
                <a16:creationId xmlns:a16="http://schemas.microsoft.com/office/drawing/2014/main" id="{287A61DA-3131-A0DA-E02D-B0E75E3CF84A}"/>
              </a:ext>
            </a:extLst>
          </p:cNvPr>
          <p:cNvSpPr/>
          <p:nvPr/>
        </p:nvSpPr>
        <p:spPr>
          <a:xfrm>
            <a:off x="9720072" y="55595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rounds up to 62.5 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733313-1AC7-0400-ED0A-A986B87CAC52}"/>
              </a:ext>
            </a:extLst>
          </p:cNvPr>
          <p:cNvSpPr txBox="1"/>
          <p:nvPr/>
        </p:nvSpPr>
        <p:spPr>
          <a:xfrm>
            <a:off x="6291072" y="1183358"/>
            <a:ext cx="543920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To make matters worse…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The code schedules each tick relative to the previous one, which means the errors get worse and worse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Now…I was trying to be fancy, and had asked for client side prediction (which Flappy Phoenix does not have). In essence – the server is still the source of truth, but this allows snappy movement with reconciliation after the fact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The client is ticking along very nicely, but the compounding error means…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>
              <a:buClr>
                <a:schemeClr val="bg1"/>
              </a:buClr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Google Shape;110;p8">
            <a:extLst>
              <a:ext uri="{FF2B5EF4-FFF2-40B4-BE49-F238E27FC236}">
                <a16:creationId xmlns:a16="http://schemas.microsoft.com/office/drawing/2014/main" id="{FAD28CB9-D501-4B6E-088D-02F653F12AFA}"/>
              </a:ext>
            </a:extLst>
          </p:cNvPr>
          <p:cNvSpPr/>
          <p:nvPr/>
        </p:nvSpPr>
        <p:spPr>
          <a:xfrm>
            <a:off x="6830568" y="3255265"/>
            <a:ext cx="45720" cy="329184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11;p8">
            <a:extLst>
              <a:ext uri="{FF2B5EF4-FFF2-40B4-BE49-F238E27FC236}">
                <a16:creationId xmlns:a16="http://schemas.microsoft.com/office/drawing/2014/main" id="{91CF8B20-C5E6-E787-8404-F47A0D999407}"/>
              </a:ext>
            </a:extLst>
          </p:cNvPr>
          <p:cNvSpPr/>
          <p:nvPr/>
        </p:nvSpPr>
        <p:spPr>
          <a:xfrm>
            <a:off x="7699248" y="3255265"/>
            <a:ext cx="45720" cy="329184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12;p8">
            <a:extLst>
              <a:ext uri="{FF2B5EF4-FFF2-40B4-BE49-F238E27FC236}">
                <a16:creationId xmlns:a16="http://schemas.microsoft.com/office/drawing/2014/main" id="{978782AE-743D-4AA6-8B92-00F1547753BF}"/>
              </a:ext>
            </a:extLst>
          </p:cNvPr>
          <p:cNvSpPr/>
          <p:nvPr/>
        </p:nvSpPr>
        <p:spPr>
          <a:xfrm>
            <a:off x="8567928" y="3255265"/>
            <a:ext cx="45720" cy="329184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13;p8">
            <a:extLst>
              <a:ext uri="{FF2B5EF4-FFF2-40B4-BE49-F238E27FC236}">
                <a16:creationId xmlns:a16="http://schemas.microsoft.com/office/drawing/2014/main" id="{A239E6AB-C8FD-7115-BA1D-D3B2CF185F5F}"/>
              </a:ext>
            </a:extLst>
          </p:cNvPr>
          <p:cNvSpPr/>
          <p:nvPr/>
        </p:nvSpPr>
        <p:spPr>
          <a:xfrm>
            <a:off x="9436608" y="3255265"/>
            <a:ext cx="45720" cy="329184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14;p8">
            <a:extLst>
              <a:ext uri="{FF2B5EF4-FFF2-40B4-BE49-F238E27FC236}">
                <a16:creationId xmlns:a16="http://schemas.microsoft.com/office/drawing/2014/main" id="{D8752EAE-16B1-5063-AE41-B1E8FF58FBE4}"/>
              </a:ext>
            </a:extLst>
          </p:cNvPr>
          <p:cNvSpPr/>
          <p:nvPr/>
        </p:nvSpPr>
        <p:spPr>
          <a:xfrm>
            <a:off x="10305288" y="3255265"/>
            <a:ext cx="45720" cy="329184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15;p8">
            <a:extLst>
              <a:ext uri="{FF2B5EF4-FFF2-40B4-BE49-F238E27FC236}">
                <a16:creationId xmlns:a16="http://schemas.microsoft.com/office/drawing/2014/main" id="{8277AAF8-85FB-AB04-6E60-E8C78381DC37}"/>
              </a:ext>
            </a:extLst>
          </p:cNvPr>
          <p:cNvSpPr/>
          <p:nvPr/>
        </p:nvSpPr>
        <p:spPr>
          <a:xfrm>
            <a:off x="11173968" y="3255265"/>
            <a:ext cx="45720" cy="329184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25;p8">
            <a:extLst>
              <a:ext uri="{FF2B5EF4-FFF2-40B4-BE49-F238E27FC236}">
                <a16:creationId xmlns:a16="http://schemas.microsoft.com/office/drawing/2014/main" id="{9815EB6B-7FE2-6617-87A7-A081EB127F9A}"/>
              </a:ext>
            </a:extLst>
          </p:cNvPr>
          <p:cNvSpPr/>
          <p:nvPr/>
        </p:nvSpPr>
        <p:spPr>
          <a:xfrm>
            <a:off x="6830568" y="4626865"/>
            <a:ext cx="45720" cy="329184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26;p8">
            <a:extLst>
              <a:ext uri="{FF2B5EF4-FFF2-40B4-BE49-F238E27FC236}">
                <a16:creationId xmlns:a16="http://schemas.microsoft.com/office/drawing/2014/main" id="{44B08BCB-1195-5813-9D2D-1BFB05EAC972}"/>
              </a:ext>
            </a:extLst>
          </p:cNvPr>
          <p:cNvSpPr/>
          <p:nvPr/>
        </p:nvSpPr>
        <p:spPr>
          <a:xfrm>
            <a:off x="7918704" y="4626865"/>
            <a:ext cx="45720" cy="329184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27;p8">
            <a:extLst>
              <a:ext uri="{FF2B5EF4-FFF2-40B4-BE49-F238E27FC236}">
                <a16:creationId xmlns:a16="http://schemas.microsoft.com/office/drawing/2014/main" id="{66D694E7-8AA8-B13A-AF2E-6F0A096912ED}"/>
              </a:ext>
            </a:extLst>
          </p:cNvPr>
          <p:cNvSpPr/>
          <p:nvPr/>
        </p:nvSpPr>
        <p:spPr>
          <a:xfrm>
            <a:off x="9006840" y="4626865"/>
            <a:ext cx="45720" cy="329184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28;p8">
            <a:extLst>
              <a:ext uri="{FF2B5EF4-FFF2-40B4-BE49-F238E27FC236}">
                <a16:creationId xmlns:a16="http://schemas.microsoft.com/office/drawing/2014/main" id="{AFBF7D8D-19EA-D591-A6FA-EB29812908C6}"/>
              </a:ext>
            </a:extLst>
          </p:cNvPr>
          <p:cNvSpPr/>
          <p:nvPr/>
        </p:nvSpPr>
        <p:spPr>
          <a:xfrm>
            <a:off x="10094976" y="4626865"/>
            <a:ext cx="45720" cy="329184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29;p8">
            <a:extLst>
              <a:ext uri="{FF2B5EF4-FFF2-40B4-BE49-F238E27FC236}">
                <a16:creationId xmlns:a16="http://schemas.microsoft.com/office/drawing/2014/main" id="{466D7304-FD8E-5988-F747-E199AA9E0E3C}"/>
              </a:ext>
            </a:extLst>
          </p:cNvPr>
          <p:cNvSpPr/>
          <p:nvPr/>
        </p:nvSpPr>
        <p:spPr>
          <a:xfrm>
            <a:off x="11183112" y="4626865"/>
            <a:ext cx="45720" cy="329184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" name="Google Shape;135;p8">
            <a:extLst>
              <a:ext uri="{FF2B5EF4-FFF2-40B4-BE49-F238E27FC236}">
                <a16:creationId xmlns:a16="http://schemas.microsoft.com/office/drawing/2014/main" id="{6DA48C24-A4B7-B75E-E44D-7A13FF996FC0}"/>
              </a:ext>
            </a:extLst>
          </p:cNvPr>
          <p:cNvCxnSpPr/>
          <p:nvPr/>
        </p:nvCxnSpPr>
        <p:spPr>
          <a:xfrm>
            <a:off x="6830568" y="3584449"/>
            <a:ext cx="0" cy="1042416"/>
          </a:xfrm>
          <a:prstGeom prst="straightConnector1">
            <a:avLst/>
          </a:prstGeom>
          <a:noFill/>
          <a:ln w="12700" cap="flat" cmpd="sng">
            <a:solidFill>
              <a:srgbClr val="55696B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136;p8">
            <a:extLst>
              <a:ext uri="{FF2B5EF4-FFF2-40B4-BE49-F238E27FC236}">
                <a16:creationId xmlns:a16="http://schemas.microsoft.com/office/drawing/2014/main" id="{9A0859CB-161C-3AF3-8005-FEA77725D9CF}"/>
              </a:ext>
            </a:extLst>
          </p:cNvPr>
          <p:cNvCxnSpPr/>
          <p:nvPr/>
        </p:nvCxnSpPr>
        <p:spPr>
          <a:xfrm>
            <a:off x="7699248" y="3584449"/>
            <a:ext cx="219456" cy="1042416"/>
          </a:xfrm>
          <a:prstGeom prst="straightConnector1">
            <a:avLst/>
          </a:prstGeom>
          <a:noFill/>
          <a:ln w="12700" cap="flat" cmpd="sng">
            <a:solidFill>
              <a:srgbClr val="55696B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137;p8">
            <a:extLst>
              <a:ext uri="{FF2B5EF4-FFF2-40B4-BE49-F238E27FC236}">
                <a16:creationId xmlns:a16="http://schemas.microsoft.com/office/drawing/2014/main" id="{69C9F1C3-8047-615B-3B9E-A2B67BF83956}"/>
              </a:ext>
            </a:extLst>
          </p:cNvPr>
          <p:cNvCxnSpPr/>
          <p:nvPr/>
        </p:nvCxnSpPr>
        <p:spPr>
          <a:xfrm>
            <a:off x="8567928" y="3584449"/>
            <a:ext cx="438912" cy="1042416"/>
          </a:xfrm>
          <a:prstGeom prst="straightConnector1">
            <a:avLst/>
          </a:prstGeom>
          <a:noFill/>
          <a:ln w="12700" cap="flat" cmpd="sng">
            <a:solidFill>
              <a:srgbClr val="55696B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138;p8">
            <a:extLst>
              <a:ext uri="{FF2B5EF4-FFF2-40B4-BE49-F238E27FC236}">
                <a16:creationId xmlns:a16="http://schemas.microsoft.com/office/drawing/2014/main" id="{89CA5F54-345B-7186-1D3C-C6CD9120C771}"/>
              </a:ext>
            </a:extLst>
          </p:cNvPr>
          <p:cNvCxnSpPr/>
          <p:nvPr/>
        </p:nvCxnSpPr>
        <p:spPr>
          <a:xfrm>
            <a:off x="9436608" y="3584449"/>
            <a:ext cx="658368" cy="1042416"/>
          </a:xfrm>
          <a:prstGeom prst="straightConnector1">
            <a:avLst/>
          </a:prstGeom>
          <a:noFill/>
          <a:ln w="12700" cap="flat" cmpd="sng">
            <a:solidFill>
              <a:srgbClr val="55696B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139;p8">
            <a:extLst>
              <a:ext uri="{FF2B5EF4-FFF2-40B4-BE49-F238E27FC236}">
                <a16:creationId xmlns:a16="http://schemas.microsoft.com/office/drawing/2014/main" id="{F753A937-BE7D-5352-B430-9B8465156A29}"/>
              </a:ext>
            </a:extLst>
          </p:cNvPr>
          <p:cNvCxnSpPr/>
          <p:nvPr/>
        </p:nvCxnSpPr>
        <p:spPr>
          <a:xfrm>
            <a:off x="10305288" y="3584449"/>
            <a:ext cx="877824" cy="1042416"/>
          </a:xfrm>
          <a:prstGeom prst="straightConnector1">
            <a:avLst/>
          </a:prstGeom>
          <a:noFill/>
          <a:ln w="12700" cap="flat" cmpd="sng">
            <a:solidFill>
              <a:srgbClr val="55696B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6130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01 · THE 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Keep an appointment book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3158F5-69DB-717E-5868-C634820B8683}"/>
              </a:ext>
            </a:extLst>
          </p:cNvPr>
          <p:cNvSpPr txBox="1"/>
          <p:nvPr/>
        </p:nvSpPr>
        <p:spPr>
          <a:xfrm>
            <a:off x="276606" y="1613118"/>
            <a:ext cx="60944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>
                <a:solidFill>
                  <a:srgbClr val="FF7B72"/>
                </a:solidFill>
                <a:latin typeface="ui-monospace"/>
              </a:rPr>
              <a:t>BEFORE</a:t>
            </a:r>
          </a:p>
          <a:p>
            <a:endParaRPr lang="en-US" b="0" i="0">
              <a:solidFill>
                <a:srgbClr val="FF7B72"/>
              </a:solidFill>
              <a:effectLst/>
              <a:latin typeface="ui-monospace"/>
            </a:endParaRPr>
          </a:p>
          <a:p>
            <a:r>
              <a:rPr lang="en-US" b="0" i="0">
                <a:solidFill>
                  <a:srgbClr val="FF7B72"/>
                </a:solidFill>
                <a:effectLst/>
                <a:latin typeface="ui-monospace"/>
              </a:rPr>
              <a:t>defp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D2A8FF"/>
                </a:solidFill>
                <a:effectLst/>
                <a:latin typeface="ui-monospace"/>
              </a:rPr>
              <a:t>schedule_tick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(tick_ms), </a:t>
            </a:r>
            <a:r>
              <a:rPr lang="en-US" b="0" i="0">
                <a:solidFill>
                  <a:srgbClr val="A5D6FF"/>
                </a:solidFill>
                <a:effectLst/>
                <a:latin typeface="ui-monospace"/>
              </a:rPr>
              <a:t>do: </a:t>
            </a:r>
            <a:r>
              <a:rPr lang="en-US" b="0" i="0">
                <a:solidFill>
                  <a:srgbClr val="FFA657"/>
                </a:solidFill>
                <a:effectLst/>
                <a:latin typeface="ui-monospace"/>
              </a:rPr>
              <a:t>Process</a:t>
            </a:r>
            <a:r>
              <a:rPr lang="en-US" b="0" i="0">
                <a:solidFill>
                  <a:srgbClr val="79C0FF"/>
                </a:solidFill>
                <a:effectLst/>
                <a:latin typeface="ui-monospace"/>
              </a:rPr>
              <a:t>.</a:t>
            </a:r>
            <a:r>
              <a:rPr lang="en-US" b="0" i="0">
                <a:solidFill>
                  <a:srgbClr val="D2A8FF"/>
                </a:solidFill>
                <a:effectLst/>
                <a:latin typeface="ui-monospace"/>
              </a:rPr>
              <a:t>send_after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(</a:t>
            </a:r>
            <a:r>
              <a:rPr lang="en-US" b="0" i="0">
                <a:solidFill>
                  <a:srgbClr val="D2A8FF"/>
                </a:solidFill>
                <a:effectLst/>
                <a:latin typeface="ui-monospace"/>
              </a:rPr>
              <a:t>self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(), </a:t>
            </a:r>
            <a:r>
              <a:rPr lang="en-US" b="0" i="0">
                <a:solidFill>
                  <a:srgbClr val="A5D6FF"/>
                </a:solidFill>
                <a:effectLst/>
                <a:latin typeface="ui-monospace"/>
              </a:rPr>
              <a:t>:tick</a:t>
            </a:r>
            <a:r>
              <a:rPr lang="en-US" b="0" i="0">
                <a:solidFill>
                  <a:srgbClr val="F0F6FC"/>
                </a:solidFill>
                <a:effectLst/>
                <a:latin typeface="ui-monospace"/>
              </a:rPr>
              <a:t>, tick_ms)</a:t>
            </a:r>
          </a:p>
          <a:p>
            <a:endParaRPr lang="en-US">
              <a:solidFill>
                <a:srgbClr val="F0F6FC"/>
              </a:solidFill>
              <a:latin typeface="ui-monospace"/>
            </a:endParaRPr>
          </a:p>
          <a:p>
            <a:endParaRPr lang="en-US" b="0" i="0">
              <a:solidFill>
                <a:srgbClr val="F0F6FC"/>
              </a:solidFill>
              <a:effectLst/>
              <a:latin typeface="ui-monospace"/>
            </a:endParaRPr>
          </a:p>
          <a:p>
            <a:endParaRPr lang="en-US">
              <a:solidFill>
                <a:srgbClr val="F0F6FC"/>
              </a:solidFill>
              <a:latin typeface="ui-monospace"/>
            </a:endParaRPr>
          </a:p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7DFF66-FDB5-F455-2B0D-C2F0230CDAFE}"/>
              </a:ext>
            </a:extLst>
          </p:cNvPr>
          <p:cNvSpPr txBox="1"/>
          <p:nvPr/>
        </p:nvSpPr>
        <p:spPr>
          <a:xfrm>
            <a:off x="276606" y="3090911"/>
            <a:ext cx="6094476" cy="1781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sng" strike="noStrike" kern="0" cap="none" spc="0" normalizeH="0" baseline="0" noProof="0">
                <a:ln>
                  <a:noFill/>
                </a:ln>
                <a:solidFill>
                  <a:srgbClr val="FF7B72"/>
                </a:solidFill>
                <a:effectLst/>
                <a:uLnTx/>
                <a:uFillTx/>
                <a:latin typeface="ui-monospace"/>
                <a:cs typeface="Arial"/>
                <a:sym typeface="Arial"/>
              </a:rPr>
              <a:t>AFTER</a:t>
            </a:r>
          </a:p>
          <a:p>
            <a:pPr>
              <a:lnSpc>
                <a:spcPts val="1425"/>
              </a:lnSpc>
              <a:buNone/>
            </a:pPr>
            <a:endParaRPr lang="en-US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defp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schedule_tick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monotonic_time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:millisecond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next_tick_at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tick_ms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send_after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:tick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%{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next_tick_at: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90343-DFFD-5A58-E329-CA6898128D94}"/>
              </a:ext>
            </a:extLst>
          </p:cNvPr>
          <p:cNvSpPr txBox="1"/>
          <p:nvPr/>
        </p:nvSpPr>
        <p:spPr>
          <a:xfrm>
            <a:off x="6963155" y="1896118"/>
            <a:ext cx="467715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So why does this fix it?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Now we keep a accurate guess of where the tick should be, and correct for it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Take the time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Take the next tick prediction plus our tick rate and this time (and use max() to make sure it’s in the future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Use that to peg us to our tick rate (send_after no longer just always sends the rate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But I found this solution dissatisfying. But why? Why does Windows do this? What does Linux do? What does macOS do?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  <a:p>
            <a:pPr>
              <a:buClr>
                <a:schemeClr val="bg1"/>
              </a:buClr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274320" y="310896"/>
            <a:ext cx="4800600" cy="277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93B"/>
              </a:buClr>
              <a:buSzPts val="30000"/>
              <a:buFont typeface="Courier New"/>
              <a:buNone/>
            </a:pPr>
            <a:r>
              <a:rPr lang="en-US" sz="30000" b="1" i="0" u="none" strike="noStrike" cap="none">
                <a:solidFill>
                  <a:srgbClr val="29393B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30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760720" y="1920240"/>
            <a:ext cx="10698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ACT 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486400" y="461772"/>
            <a:ext cx="2459736" cy="90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3400"/>
              <a:buFont typeface="Courier New"/>
              <a:buNone/>
            </a:pPr>
            <a:r>
              <a:rPr lang="en-US" sz="3400" b="1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But w</a:t>
            </a:r>
            <a:r>
              <a:rPr lang="en-US" sz="34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hy?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8832750" y="228600"/>
            <a:ext cx="335925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r>
              <a:rPr lang="en-US" sz="1600" i="1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WHY? WHY? WHY? WHY? WHY? WHY?</a:t>
            </a: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A6B8B1"/>
              </a:buClr>
              <a:buSzPts val="1600"/>
            </a:pPr>
            <a:endParaRPr lang="en-US" sz="1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600"/>
              <a:buFont typeface="Calibri"/>
              <a:buNone/>
            </a:pP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Which Movie The Ryan Reynolds “But Why?” Gif Is From">
            <a:extLst>
              <a:ext uri="{FF2B5EF4-FFF2-40B4-BE49-F238E27FC236}">
                <a16:creationId xmlns:a16="http://schemas.microsoft.com/office/drawing/2014/main" id="{6223AA2E-DA3E-DDE3-A6D1-24DF5082D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00" y="3483864"/>
            <a:ext cx="513527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02 · DOWN THE STACK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Two ways for a kernel to keep time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00634" y="1783080"/>
            <a:ext cx="5349240" cy="365760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484632" y="1783080"/>
            <a:ext cx="64008" cy="365760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8C5FF-01CA-FB8E-FEE1-51A8B194C167}"/>
              </a:ext>
            </a:extLst>
          </p:cNvPr>
          <p:cNvSpPr txBox="1"/>
          <p:nvPr/>
        </p:nvSpPr>
        <p:spPr>
          <a:xfrm>
            <a:off x="3047238" y="3275112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1DE063-B29C-F6E4-B64A-3A0CA33F5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811" y="62448"/>
            <a:ext cx="2281501" cy="17206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F5B4C0-F18C-AF26-ADE1-65AB7345CD49}"/>
              </a:ext>
            </a:extLst>
          </p:cNvPr>
          <p:cNvSpPr txBox="1"/>
          <p:nvPr/>
        </p:nvSpPr>
        <p:spPr>
          <a:xfrm>
            <a:off x="500634" y="1859542"/>
            <a:ext cx="46771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You can be ticky or tickless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The Windows default is to be ticky: Check your watch every 15 minutes, and see if anything has to be done. Do it. Go back to sleep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The Linux way (since 2007) is to be tickless. Set an alarm for when you have to do the thing, and sleep until you have to do the thing.</a:t>
            </a:r>
          </a:p>
          <a:p>
            <a:pPr lvl="2">
              <a:buClr>
                <a:schemeClr val="bg1"/>
              </a:buClr>
            </a:pPr>
            <a:r>
              <a:rPr lang="en-US">
                <a:solidFill>
                  <a:schemeClr val="bg1">
                    <a:lumMod val="95000"/>
                  </a:schemeClr>
                </a:solidFill>
              </a:rPr>
              <a:t>- 	</a:t>
            </a:r>
          </a:p>
          <a:p>
            <a:pPr>
              <a:buClr>
                <a:schemeClr val="bg1"/>
              </a:buClr>
            </a:pP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02 · THE CRYSTAL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All a CPU can do is count beats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48640" y="1600200"/>
            <a:ext cx="64008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Quartz is piezoelectric: bend it and it makes a voltage; apply a voltage and it bends. Cut to size, it vibrates at a maniacally steady rate, good to a few parts per million.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8640" y="3200400"/>
            <a:ext cx="64008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A processor has no sense of time of its own. Time of day is just those beats counted from a known start, exactly what the quartz watch on your wrist does.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7726680" y="2286000"/>
            <a:ext cx="3931920" cy="2697480"/>
          </a:xfrm>
          <a:prstGeom prst="rect">
            <a:avLst/>
          </a:prstGeom>
          <a:solidFill>
            <a:srgbClr val="1E282B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7909560" y="2542032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3000"/>
              <a:buFont typeface="Courier New"/>
              <a:buNone/>
            </a:pPr>
            <a:r>
              <a:rPr lang="en-US" sz="30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32,768 Hz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7909560" y="32004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700"/>
              <a:buFont typeface="Courier New"/>
              <a:buNone/>
            </a:pPr>
            <a:r>
              <a:rPr lang="en-US" sz="1700" b="0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= 2^15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7909560" y="3703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/ 15-bit counter  -&gt;  1 Hz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8001000" y="416052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real-time clock tick - same as your quartz watch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02 · THE PAYOFF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Why 14.31818 MHz?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3800"/>
              <a:buFont typeface="Courier New"/>
              <a:buNone/>
            </a:pPr>
            <a:r>
              <a:rPr lang="en-US" sz="38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14.31818 MHz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original IBM PC's master crystal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371600" y="2560320"/>
            <a:ext cx="944575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Because it's exactly 4x the colour frequency of NTSC television - and TV crystals were mass-produced and dirt cheap. The PC's video had to look like a TV anyway, so IBM grabbed the cheapest oscillator already in every factory.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48640" y="3794760"/>
            <a:ext cx="3511296" cy="137160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FFC2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685800" y="3950208"/>
            <a:ext cx="32369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/ 4   3.579545 MHz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31520" y="4370832"/>
            <a:ext cx="31455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NTSC subcarrier - still in the ACPI timer spec today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334256" y="3794760"/>
            <a:ext cx="3511296" cy="137160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4471416" y="3950208"/>
            <a:ext cx="32369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/ 3   4.772766 MHz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517136" y="4370832"/>
            <a:ext cx="31455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famous 4.77 MHz CPU clock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8119872" y="3794760"/>
            <a:ext cx="3511296" cy="137160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8257032" y="3950208"/>
            <a:ext cx="32369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/ 12   1.193182 MHz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8302752" y="4370832"/>
            <a:ext cx="31455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PIT timer chip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FFC247"/>
                </a:solidFill>
                <a:latin typeface="Calibri"/>
                <a:ea typeface="Calibri"/>
                <a:cs typeface="Calibri"/>
                <a:sym typeface="Calibri"/>
              </a:rPr>
              <a:t>NTSC went off the air in the US in 2009. The frequency stayed - emulating it costs nothing, and removing it would break the past.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02 · THE IDEA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4400"/>
              <a:buFont typeface="Courier New"/>
              <a:buNone/>
            </a:pPr>
            <a:r>
              <a:rPr lang="en-US" sz="44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FROZEN ACCIDENT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2011680" y="3108960"/>
            <a:ext cx="8165592" cy="2103120"/>
          </a:xfrm>
          <a:prstGeom prst="rect">
            <a:avLst/>
          </a:prstGeom>
          <a:solidFill>
            <a:srgbClr val="1E282B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2011680" y="3108960"/>
            <a:ext cx="64008" cy="210312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2468880" y="3383280"/>
            <a:ext cx="7406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100"/>
              <a:buFont typeface="Calibri"/>
              <a:buNone/>
            </a:pPr>
            <a:r>
              <a:rPr lang="en-US" sz="21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A decision whose original reason is gone, kept because removing it would break something old and emulating it costs nothing.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2468880" y="452628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They stick around because removing them never quite feels worth the trouble.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/>
          <p:nvPr/>
        </p:nvSpPr>
        <p:spPr>
          <a:xfrm>
            <a:off x="365760" y="118872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9393B"/>
              </a:buClr>
              <a:buSzPts val="30000"/>
              <a:buFont typeface="Courier New"/>
              <a:buNone/>
            </a:pPr>
            <a:r>
              <a:rPr lang="en-US" sz="30000" b="1" i="0" u="none" strike="noStrike" cap="none">
                <a:solidFill>
                  <a:srgbClr val="29393B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30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5760720" y="2468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ACT 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760720" y="2926080"/>
            <a:ext cx="5852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3400"/>
              <a:buFont typeface="Courier New"/>
              <a:buNone/>
            </a:pPr>
            <a:r>
              <a:rPr lang="en-US" sz="34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The same shape, everywhere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760720" y="4114800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Once you can name one frozen accident, you start seeing them in everyday code.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03 · FOSSILS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Why your editor's ruler sits at 80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19"/>
          <p:cNvCxnSpPr/>
          <p:nvPr/>
        </p:nvCxnSpPr>
        <p:spPr>
          <a:xfrm>
            <a:off x="1188720" y="3383280"/>
            <a:ext cx="9784080" cy="0"/>
          </a:xfrm>
          <a:prstGeom prst="straightConnector1">
            <a:avLst/>
          </a:prstGeom>
          <a:noFill/>
          <a:ln w="254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0" name="Google Shape;340;p19"/>
          <p:cNvSpPr/>
          <p:nvPr/>
        </p:nvSpPr>
        <p:spPr>
          <a:xfrm>
            <a:off x="1088136" y="3282696"/>
            <a:ext cx="201168" cy="201168"/>
          </a:xfrm>
          <a:prstGeom prst="ellipse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182880" y="2514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1860s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45720" y="1600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US dollar bill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3534156" y="3282696"/>
            <a:ext cx="201168" cy="201168"/>
          </a:xfrm>
          <a:prstGeom prst="ellipse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2628900" y="38862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1928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2491740" y="420624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IBM's 80-column card, cut to fit a cash drawer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5980176" y="3282696"/>
            <a:ext cx="201168" cy="201168"/>
          </a:xfrm>
          <a:prstGeom prst="ellipse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9"/>
          <p:cNvSpPr/>
          <p:nvPr/>
        </p:nvSpPr>
        <p:spPr>
          <a:xfrm>
            <a:off x="5074920" y="2514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1950s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4937760" y="1600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Fortran: columns 73-80 for sequence numbers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8426196" y="3282696"/>
            <a:ext cx="201168" cy="201168"/>
          </a:xfrm>
          <a:prstGeom prst="ellipse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7520940" y="38862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1978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7383780" y="420624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DEC VT100 fixes the screen at 80x24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10872216" y="3282696"/>
            <a:ext cx="201168" cy="201168"/>
          </a:xfrm>
          <a:prstGeom prst="ellipse">
            <a:avLst/>
          </a:prstGeom>
          <a:solidFill>
            <a:srgbClr val="34E5A1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9966960" y="25146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today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9829800" y="1600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PEP 8, your linter, the ruler line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Five dead technologies, each handing the number to the next like a surname. (Guess the year on the slide: 1928.)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03 · FOSSILS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Three you touch every day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548640" y="1920240"/>
            <a:ext cx="3511296" cy="338328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548640" y="1920240"/>
            <a:ext cx="64008" cy="338328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822960" y="2148840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The C drive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822960" y="2880360"/>
            <a:ext cx="300837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A: and B: were the floppy drives. They're long gone; the gap stayed behind.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4334256" y="1920240"/>
            <a:ext cx="3511296" cy="338328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4334256" y="1920240"/>
            <a:ext cx="64008" cy="338328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4608576" y="2148840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4608576" y="2880360"/>
            <a:ext cx="300837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A teletype did two physical things: returned the carriage, then fed the line. Unix kept only the feed. It still breaks your Git diffs.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8119872" y="1920240"/>
            <a:ext cx="3511296" cy="338328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8119872" y="1920240"/>
            <a:ext cx="64008" cy="338328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8394192" y="2148840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Referer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8394192" y="2880360"/>
            <a:ext cx="300837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header that tells a site which page you came from. Its name is a 1995 typo for "referrer," caught too late - so it's now, forever, the referer we all keep referring to.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03 · FOSSILS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From two horses' rears to a rocket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548640" y="2651760"/>
            <a:ext cx="1828800" cy="123444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594360" y="265176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two horses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side by side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2359152" y="2651760"/>
            <a:ext cx="521208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000"/>
              <a:buFont typeface="Courier New"/>
              <a:buNone/>
            </a:pPr>
            <a:r>
              <a:rPr lang="en-US" sz="20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2862072" y="2651760"/>
            <a:ext cx="1828800" cy="123444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2907792" y="265176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horse-drawn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mine wagons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4672584" y="2651760"/>
            <a:ext cx="521208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000"/>
              <a:buFont typeface="Courier New"/>
              <a:buNone/>
            </a:pPr>
            <a:r>
              <a:rPr lang="en-US" sz="20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5175504" y="2651760"/>
            <a:ext cx="1828800" cy="123444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5221224" y="265176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Stephenson's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railways, 1820s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6986016" y="2651760"/>
            <a:ext cx="521208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000"/>
              <a:buFont typeface="Courier New"/>
              <a:buNone/>
            </a:pPr>
            <a:r>
              <a:rPr lang="en-US" sz="20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7488936" y="2651760"/>
            <a:ext cx="1828800" cy="123444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7534656" y="265176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standard gauge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4 ft 8.5 in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9299448" y="2651760"/>
            <a:ext cx="521208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000"/>
              <a:buFont typeface="Courier New"/>
              <a:buNone/>
            </a:pPr>
            <a:r>
              <a:rPr lang="en-US" sz="20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9802368" y="2651760"/>
            <a:ext cx="1828800" cy="123444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FFC2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9848088" y="2651760"/>
            <a:ext cx="1737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Shuttle boosters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250"/>
              <a:buFont typeface="Courier New"/>
              <a:buNone/>
            </a:pPr>
            <a:r>
              <a:rPr lang="en-US" sz="1250" b="0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shipped by rail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A Space Shuttle booster had to fit the rail tunnels on the way to the launch pad - so its width traces back to the back end of a horse.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1463040" y="5166360"/>
            <a:ext cx="92628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FFC247"/>
                </a:solidFill>
                <a:latin typeface="Calibri"/>
                <a:ea typeface="Calibri"/>
                <a:cs typeface="Calibri"/>
                <a:sym typeface="Calibri"/>
              </a:rPr>
              <a:t>Mostly a tall tale - but the railway gauge really does descend from horse-drawn wagons. The frozen accident is real; the Roman chariots and the rocket are decoration.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03 · FOSSILS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A two-week stopgap you'll use forever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2005.</a:t>
            </a:r>
            <a:r>
              <a:rPr lang="en-US" sz="18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  The Linux kernel loses access to the proprietary tool it relied on. Linus Torvalds writes the first version of git in about ten days.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548640" y="3017520"/>
            <a:ext cx="11091672" cy="2194560"/>
          </a:xfrm>
          <a:prstGeom prst="rect">
            <a:avLst/>
          </a:prstGeom>
          <a:solidFill>
            <a:srgbClr val="1E282B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548640" y="3017520"/>
            <a:ext cx="64008" cy="2194560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FFC2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1005840" y="33375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300"/>
              <a:buFont typeface="Calibri"/>
              <a:buNone/>
            </a:pPr>
            <a:r>
              <a:rPr lang="en-US" sz="2300" b="0" i="1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"I'm an egotistical bastard, and I name all my projects after myself.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300"/>
              <a:buFont typeface="Calibri"/>
              <a:buNone/>
            </a:pPr>
            <a:r>
              <a:rPr lang="en-US" sz="2300" b="0" i="1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First Linux, now git."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1005840" y="45720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- Linus Torvalds  ·  "git" is British slang for an unpleasant person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03 · MYTH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QWERTY didn't slow you down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9784080" y="713232"/>
            <a:ext cx="1856232" cy="457200"/>
          </a:xfrm>
          <a:prstGeom prst="rect">
            <a:avLst/>
          </a:prstGeom>
          <a:solidFill>
            <a:srgbClr val="FFC24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9784080" y="713232"/>
            <a:ext cx="18562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0F10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0B0F10"/>
                </a:solidFill>
                <a:latin typeface="Courier New"/>
                <a:ea typeface="Courier New"/>
                <a:cs typeface="Courier New"/>
                <a:sym typeface="Courier New"/>
              </a:rPr>
              <a:t>MYTH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The story everyone repeats: the layout was designed to keep typists slow so the typebars wouldn't jam.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548640" y="2697480"/>
            <a:ext cx="11091672" cy="137160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548640" y="2697480"/>
            <a:ext cx="64008" cy="137160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3"/>
          <p:cNvSpPr/>
          <p:nvPr/>
        </p:nvSpPr>
        <p:spPr>
          <a:xfrm>
            <a:off x="914400" y="269748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But "e" and "r" sit right next to each other</a:t>
            </a:r>
            <a:r>
              <a:rPr lang="en-US" sz="17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 - one of the most common pairs in English. A layout built to separate frequent pairs would never do that.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548640" y="4343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Nobody is sure why the keys ended up here. What we do know is why they stayed: everyone had already learned it. That lock-in is the whole point of this talk.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04 · OUR TURN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-US" sz="27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What will they laugh at us for?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We smile at a television frequency and a missing drive letter. So what are we shipping right now that reads the same way in forty years?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548640" y="2743200"/>
            <a:ext cx="11091672" cy="1783080"/>
          </a:xfrm>
          <a:prstGeom prst="rect">
            <a:avLst/>
          </a:prstGeom>
          <a:solidFill>
            <a:srgbClr val="1E282B"/>
          </a:solidFill>
          <a:ln w="12700" cap="flat" cmpd="sng">
            <a:solidFill>
              <a:srgbClr val="FFC2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548640" y="3063240"/>
            <a:ext cx="1109167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3400"/>
              <a:buFont typeface="Courier New"/>
              <a:buNone/>
            </a:pPr>
            <a:r>
              <a:rPr lang="en-US" sz="34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03:14:07 UTC · 19 Jan 2038</a:t>
            </a:r>
            <a:br>
              <a:rPr lang="en-US" sz="3400" b="1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signed 32-bit Unix time runs out, and we're still writing it into new systems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548640" y="4800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on the same bench: money kept in floating point · code that assumes the clock only moves forward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04 · TAKEAWAY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11045952" y="641908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A6B8B1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500"/>
              <a:buFont typeface="Courier New"/>
              <a:buNone/>
            </a:pPr>
            <a:r>
              <a:rPr lang="en-US" sz="2500" b="1" i="0" u="none" strike="noStrike" cap="none">
                <a:solidFill>
                  <a:srgbClr val="E8EEEA"/>
                </a:solidFill>
                <a:latin typeface="Courier New"/>
                <a:ea typeface="Courier New"/>
                <a:cs typeface="Courier New"/>
                <a:sym typeface="Courier New"/>
              </a:rPr>
              <a:t>The crystal is good to parts per million; the trouble is always the policy we stack on top of it.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2194560" y="3383280"/>
            <a:ext cx="7772400" cy="1554480"/>
          </a:xfrm>
          <a:prstGeom prst="rect">
            <a:avLst/>
          </a:prstGeom>
          <a:solidFill>
            <a:srgbClr val="151B1D"/>
          </a:solidFill>
          <a:ln w="12700" cap="flat" cmpd="sng">
            <a:solidFill>
              <a:srgbClr val="2C3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5"/>
          <p:cNvSpPr/>
          <p:nvPr/>
        </p:nvSpPr>
        <p:spPr>
          <a:xfrm>
            <a:off x="2194560" y="3383280"/>
            <a:ext cx="64008" cy="1554480"/>
          </a:xfrm>
          <a:prstGeom prst="rect">
            <a:avLst/>
          </a:prstGeom>
          <a:solidFill>
            <a:srgbClr val="34E5A1"/>
          </a:solidFill>
          <a:ln w="12700" cap="flat" cmpd="sng">
            <a:solidFill>
              <a:srgbClr val="34E5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2560320" y="3611880"/>
            <a:ext cx="71323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1650"/>
              <a:buFont typeface="Courier New"/>
              <a:buNone/>
            </a:pPr>
            <a:r>
              <a:rPr lang="en-US" sz="165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Chesterton's fence.  </a:t>
            </a:r>
            <a:r>
              <a:rPr lang="en-US" sz="165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When you meet a strange constant or a baffling default, find out why it's there before you tear it out. The reason is usually real, just very old.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247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FFC247"/>
                </a:solidFill>
                <a:latin typeface="Calibri"/>
                <a:ea typeface="Calibri"/>
                <a:cs typeface="Calibri"/>
                <a:sym typeface="Calibri"/>
              </a:rPr>
              <a:t>The one part of the machine that never lies to you, counting 32,768 times a second.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0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E5A1"/>
              </a:buClr>
              <a:buSzPts val="5000"/>
              <a:buFont typeface="Courier New"/>
              <a:buNone/>
            </a:pPr>
            <a:r>
              <a:rPr lang="en-US" sz="5000" b="1" i="0" u="none" strike="noStrike" cap="none">
                <a:solidFill>
                  <a:srgbClr val="34E5A1"/>
                </a:solidFill>
                <a:latin typeface="Courier New"/>
                <a:ea typeface="Courier New"/>
                <a:cs typeface="Courier New"/>
                <a:sym typeface="Courier New"/>
              </a:rPr>
              <a:t>Thanks.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EA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E8EEEA"/>
                </a:solidFill>
                <a:latin typeface="Calibri"/>
                <a:ea typeface="Calibri"/>
                <a:cs typeface="Calibri"/>
                <a:sym typeface="Calibri"/>
              </a:rPr>
              <a:t>Questions - and your most-cursed "why is it like this?"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B8B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A6B8B1"/>
                </a:solidFill>
                <a:latin typeface="Calibri"/>
                <a:ea typeface="Calibri"/>
                <a:cs typeface="Calibri"/>
                <a:sym typeface="Calibri"/>
              </a:rPr>
              <a:t>the bug &amp; the fix:  </a:t>
            </a:r>
            <a:r>
              <a:rPr lang="en-US" sz="1500" b="0" i="0" u="none" strike="noStrike" cap="none">
                <a:solidFill>
                  <a:srgbClr val="FFC247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github.com/stuartjohnpage/dead_giveaway/pull/58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96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55696B"/>
                </a:solidFill>
                <a:latin typeface="Courier New"/>
                <a:ea typeface="Courier New"/>
                <a:cs typeface="Courier New"/>
                <a:sym typeface="Courier New"/>
              </a:rPr>
              <a:t>frozen_accidents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2422</Words>
  <Application>Microsoft Office PowerPoint</Application>
  <PresentationFormat>Widescreen</PresentationFormat>
  <Paragraphs>266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Stuart Page</cp:lastModifiedBy>
  <cp:revision>2</cp:revision>
  <dcterms:modified xsi:type="dcterms:W3CDTF">2026-06-23T04:24:36Z</dcterms:modified>
</cp:coreProperties>
</file>